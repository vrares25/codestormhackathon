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azydog" charset="1" panose="00000000000000000000"/>
      <p:regular r:id="rId15"/>
    </p:embeddedFont>
    <p:embeddedFont>
      <p:font typeface="Comic Sans" charset="1" panose="03000702030302020204"/>
      <p:regular r:id="rId16"/>
    </p:embeddedFont>
    <p:embeddedFont>
      <p:font typeface="Roca One Heavy" charset="1" panose="00000A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7220384" y="8359007"/>
            <a:ext cx="4520266" cy="4636170"/>
          </a:xfrm>
          <a:custGeom>
            <a:avLst/>
            <a:gdLst/>
            <a:ahLst/>
            <a:cxnLst/>
            <a:rect r="r" b="b" t="t" l="l"/>
            <a:pathLst>
              <a:path h="4636170" w="4520266">
                <a:moveTo>
                  <a:pt x="0" y="0"/>
                </a:moveTo>
                <a:lnTo>
                  <a:pt x="4520266" y="0"/>
                </a:lnTo>
                <a:lnTo>
                  <a:pt x="4520266" y="4636171"/>
                </a:lnTo>
                <a:lnTo>
                  <a:pt x="0" y="4636171"/>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36285" y="-2768017"/>
            <a:ext cx="4520266" cy="4636170"/>
          </a:xfrm>
          <a:custGeom>
            <a:avLst/>
            <a:gdLst/>
            <a:ahLst/>
            <a:cxnLst/>
            <a:rect r="r" b="b" t="t" l="l"/>
            <a:pathLst>
              <a:path h="4636170" w="4520266">
                <a:moveTo>
                  <a:pt x="0" y="0"/>
                </a:moveTo>
                <a:lnTo>
                  <a:pt x="4520266" y="0"/>
                </a:lnTo>
                <a:lnTo>
                  <a:pt x="4520266" y="4636170"/>
                </a:lnTo>
                <a:lnTo>
                  <a:pt x="0" y="463617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52196" y="-164374"/>
            <a:ext cx="9657591" cy="10206172"/>
          </a:xfrm>
          <a:custGeom>
            <a:avLst/>
            <a:gdLst/>
            <a:ahLst/>
            <a:cxnLst/>
            <a:rect r="r" b="b" t="t" l="l"/>
            <a:pathLst>
              <a:path h="10206172" w="9657591">
                <a:moveTo>
                  <a:pt x="0" y="0"/>
                </a:moveTo>
                <a:lnTo>
                  <a:pt x="9657591" y="0"/>
                </a:lnTo>
                <a:lnTo>
                  <a:pt x="9657591" y="10206173"/>
                </a:lnTo>
                <a:lnTo>
                  <a:pt x="0" y="102061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9480517" y="955770"/>
            <a:ext cx="9657591" cy="10206172"/>
          </a:xfrm>
          <a:custGeom>
            <a:avLst/>
            <a:gdLst/>
            <a:ahLst/>
            <a:cxnLst/>
            <a:rect r="r" b="b" t="t" l="l"/>
            <a:pathLst>
              <a:path h="10206172" w="9657591">
                <a:moveTo>
                  <a:pt x="0" y="0"/>
                </a:moveTo>
                <a:lnTo>
                  <a:pt x="9657591" y="0"/>
                </a:lnTo>
                <a:lnTo>
                  <a:pt x="9657591" y="10206172"/>
                </a:lnTo>
                <a:lnTo>
                  <a:pt x="0" y="102061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70813" y="0"/>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855618">
            <a:off x="12184937" y="5471506"/>
            <a:ext cx="3537589" cy="5147286"/>
          </a:xfrm>
          <a:custGeom>
            <a:avLst/>
            <a:gdLst/>
            <a:ahLst/>
            <a:cxnLst/>
            <a:rect r="r" b="b" t="t" l="l"/>
            <a:pathLst>
              <a:path h="5147286" w="3537589">
                <a:moveTo>
                  <a:pt x="0" y="0"/>
                </a:moveTo>
                <a:lnTo>
                  <a:pt x="3537589" y="0"/>
                </a:lnTo>
                <a:lnTo>
                  <a:pt x="3537589" y="5147286"/>
                </a:lnTo>
                <a:lnTo>
                  <a:pt x="0" y="51472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264676" y="1518100"/>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863917" y="6913629"/>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141756">
            <a:off x="215330" y="4728070"/>
            <a:ext cx="2394065" cy="4114800"/>
          </a:xfrm>
          <a:custGeom>
            <a:avLst/>
            <a:gdLst/>
            <a:ahLst/>
            <a:cxnLst/>
            <a:rect r="r" b="b" t="t" l="l"/>
            <a:pathLst>
              <a:path h="4114800" w="2394065">
                <a:moveTo>
                  <a:pt x="0" y="0"/>
                </a:moveTo>
                <a:lnTo>
                  <a:pt x="2394066" y="0"/>
                </a:lnTo>
                <a:lnTo>
                  <a:pt x="2394066"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4742771" y="3252529"/>
            <a:ext cx="8180555" cy="1315711"/>
          </a:xfrm>
          <a:prstGeom prst="rect">
            <a:avLst/>
          </a:prstGeom>
        </p:spPr>
        <p:txBody>
          <a:bodyPr anchor="t" rtlCol="false" tIns="0" lIns="0" bIns="0" rIns="0">
            <a:spAutoFit/>
          </a:bodyPr>
          <a:lstStyle/>
          <a:p>
            <a:pPr algn="ctr">
              <a:lnSpc>
                <a:spcPts val="10340"/>
              </a:lnSpc>
              <a:spcBef>
                <a:spcPct val="0"/>
              </a:spcBef>
            </a:pPr>
            <a:r>
              <a:rPr lang="en-US" sz="8617">
                <a:solidFill>
                  <a:srgbClr val="FDBC3B"/>
                </a:solidFill>
                <a:latin typeface="Lazydog"/>
                <a:ea typeface="Lazydog"/>
                <a:cs typeface="Lazydog"/>
                <a:sym typeface="Lazydog"/>
              </a:rPr>
              <a:t>EDUSYNC</a:t>
            </a:r>
          </a:p>
        </p:txBody>
      </p:sp>
      <p:sp>
        <p:nvSpPr>
          <p:cNvPr name="TextBox 12" id="12"/>
          <p:cNvSpPr txBox="true"/>
          <p:nvPr/>
        </p:nvSpPr>
        <p:spPr>
          <a:xfrm rot="0">
            <a:off x="3724546" y="5570604"/>
            <a:ext cx="5755971" cy="895350"/>
          </a:xfrm>
          <a:prstGeom prst="rect">
            <a:avLst/>
          </a:prstGeom>
        </p:spPr>
        <p:txBody>
          <a:bodyPr anchor="t" rtlCol="false" tIns="0" lIns="0" bIns="0" rIns="0">
            <a:spAutoFit/>
          </a:bodyPr>
          <a:lstStyle/>
          <a:p>
            <a:pPr algn="l">
              <a:lnSpc>
                <a:spcPts val="3583"/>
              </a:lnSpc>
            </a:pPr>
            <a:r>
              <a:rPr lang="en-US" sz="2985">
                <a:solidFill>
                  <a:srgbClr val="FAF6F3"/>
                </a:solidFill>
                <a:latin typeface="Comic Sans"/>
                <a:ea typeface="Comic Sans"/>
                <a:cs typeface="Comic Sans"/>
                <a:sym typeface="Comic Sans"/>
              </a:rPr>
              <a:t>Membrii:</a:t>
            </a:r>
          </a:p>
          <a:p>
            <a:pPr algn="l">
              <a:lnSpc>
                <a:spcPts val="3583"/>
              </a:lnSpc>
              <a:spcBef>
                <a:spcPct val="0"/>
              </a:spcBef>
            </a:pPr>
          </a:p>
        </p:txBody>
      </p:sp>
      <p:sp>
        <p:nvSpPr>
          <p:cNvPr name="TextBox 13" id="13"/>
          <p:cNvSpPr txBox="true"/>
          <p:nvPr/>
        </p:nvSpPr>
        <p:spPr>
          <a:xfrm rot="0">
            <a:off x="4517168" y="5616579"/>
            <a:ext cx="5755971" cy="1790700"/>
          </a:xfrm>
          <a:prstGeom prst="rect">
            <a:avLst/>
          </a:prstGeom>
        </p:spPr>
        <p:txBody>
          <a:bodyPr anchor="t" rtlCol="false" tIns="0" lIns="0" bIns="0" rIns="0">
            <a:spAutoFit/>
          </a:bodyPr>
          <a:lstStyle/>
          <a:p>
            <a:pPr algn="l">
              <a:lnSpc>
                <a:spcPts val="3583"/>
              </a:lnSpc>
            </a:pPr>
            <a:r>
              <a:rPr lang="en-US" sz="2985">
                <a:solidFill>
                  <a:srgbClr val="FAF6F3"/>
                </a:solidFill>
                <a:latin typeface="Comic Sans"/>
                <a:ea typeface="Comic Sans"/>
                <a:cs typeface="Comic Sans"/>
                <a:sym typeface="Comic Sans"/>
              </a:rPr>
              <a:t>        Popa Alexandru</a:t>
            </a:r>
          </a:p>
          <a:p>
            <a:pPr algn="l">
              <a:lnSpc>
                <a:spcPts val="3583"/>
              </a:lnSpc>
            </a:pPr>
            <a:r>
              <a:rPr lang="en-US" sz="2985">
                <a:solidFill>
                  <a:srgbClr val="FAF6F3"/>
                </a:solidFill>
                <a:latin typeface="Comic Sans"/>
                <a:ea typeface="Comic Sans"/>
                <a:cs typeface="Comic Sans"/>
                <a:sym typeface="Comic Sans"/>
              </a:rPr>
              <a:t>       Tudor Andrei Claudiu</a:t>
            </a:r>
          </a:p>
          <a:p>
            <a:pPr algn="l">
              <a:lnSpc>
                <a:spcPts val="3583"/>
              </a:lnSpc>
            </a:pPr>
            <a:r>
              <a:rPr lang="en-US" sz="2985">
                <a:solidFill>
                  <a:srgbClr val="FAF6F3"/>
                </a:solidFill>
                <a:latin typeface="Comic Sans"/>
                <a:ea typeface="Comic Sans"/>
                <a:cs typeface="Comic Sans"/>
                <a:sym typeface="Comic Sans"/>
              </a:rPr>
              <a:t>       Vasile Rareș-Theodor</a:t>
            </a:r>
          </a:p>
          <a:p>
            <a:pPr algn="l">
              <a:lnSpc>
                <a:spcPts val="3583"/>
              </a:lnSpc>
              <a:spcBef>
                <a:spcPct val="0"/>
              </a:spcBef>
            </a:pPr>
          </a:p>
        </p:txBody>
      </p:sp>
      <p:sp>
        <p:nvSpPr>
          <p:cNvPr name="TextBox 14" id="14"/>
          <p:cNvSpPr txBox="true"/>
          <p:nvPr/>
        </p:nvSpPr>
        <p:spPr>
          <a:xfrm rot="0">
            <a:off x="3676600" y="8673057"/>
            <a:ext cx="5755971" cy="895350"/>
          </a:xfrm>
          <a:prstGeom prst="rect">
            <a:avLst/>
          </a:prstGeom>
        </p:spPr>
        <p:txBody>
          <a:bodyPr anchor="t" rtlCol="false" tIns="0" lIns="0" bIns="0" rIns="0">
            <a:spAutoFit/>
          </a:bodyPr>
          <a:lstStyle/>
          <a:p>
            <a:pPr algn="l">
              <a:lnSpc>
                <a:spcPts val="3583"/>
              </a:lnSpc>
            </a:pPr>
            <a:r>
              <a:rPr lang="en-US" sz="2985">
                <a:solidFill>
                  <a:srgbClr val="FAF6F3"/>
                </a:solidFill>
                <a:latin typeface="Comic Sans"/>
                <a:ea typeface="Comic Sans"/>
                <a:cs typeface="Comic Sans"/>
                <a:sym typeface="Comic Sans"/>
              </a:rPr>
              <a:t>Mentor:</a:t>
            </a:r>
          </a:p>
          <a:p>
            <a:pPr algn="ctr">
              <a:lnSpc>
                <a:spcPts val="3583"/>
              </a:lnSpc>
              <a:spcBef>
                <a:spcPct val="0"/>
              </a:spcBef>
            </a:pPr>
            <a:r>
              <a:rPr lang="en-US" sz="2985">
                <a:solidFill>
                  <a:srgbClr val="FAF6F3"/>
                </a:solidFill>
                <a:latin typeface="Comic Sans"/>
                <a:ea typeface="Comic Sans"/>
                <a:cs typeface="Comic Sans"/>
                <a:sym typeface="Comic Sans"/>
              </a:rPr>
              <a:t>Serea Filip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7220384" y="8359007"/>
            <a:ext cx="4520266" cy="4636170"/>
          </a:xfrm>
          <a:custGeom>
            <a:avLst/>
            <a:gdLst/>
            <a:ahLst/>
            <a:cxnLst/>
            <a:rect r="r" b="b" t="t" l="l"/>
            <a:pathLst>
              <a:path h="4636170" w="4520266">
                <a:moveTo>
                  <a:pt x="0" y="0"/>
                </a:moveTo>
                <a:lnTo>
                  <a:pt x="4520266" y="0"/>
                </a:lnTo>
                <a:lnTo>
                  <a:pt x="4520266" y="4636171"/>
                </a:lnTo>
                <a:lnTo>
                  <a:pt x="0" y="4636171"/>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36285" y="-2768017"/>
            <a:ext cx="4520266" cy="4636170"/>
          </a:xfrm>
          <a:custGeom>
            <a:avLst/>
            <a:gdLst/>
            <a:ahLst/>
            <a:cxnLst/>
            <a:rect r="r" b="b" t="t" l="l"/>
            <a:pathLst>
              <a:path h="4636170" w="4520266">
                <a:moveTo>
                  <a:pt x="0" y="0"/>
                </a:moveTo>
                <a:lnTo>
                  <a:pt x="4520266" y="0"/>
                </a:lnTo>
                <a:lnTo>
                  <a:pt x="4520266" y="4636170"/>
                </a:lnTo>
                <a:lnTo>
                  <a:pt x="0" y="463617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52196" y="-164374"/>
            <a:ext cx="9657591" cy="10206172"/>
          </a:xfrm>
          <a:custGeom>
            <a:avLst/>
            <a:gdLst/>
            <a:ahLst/>
            <a:cxnLst/>
            <a:rect r="r" b="b" t="t" l="l"/>
            <a:pathLst>
              <a:path h="10206172" w="9657591">
                <a:moveTo>
                  <a:pt x="0" y="0"/>
                </a:moveTo>
                <a:lnTo>
                  <a:pt x="9657591" y="0"/>
                </a:lnTo>
                <a:lnTo>
                  <a:pt x="9657591" y="10206173"/>
                </a:lnTo>
                <a:lnTo>
                  <a:pt x="0" y="102061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9480517" y="955770"/>
            <a:ext cx="9657591" cy="10206172"/>
          </a:xfrm>
          <a:custGeom>
            <a:avLst/>
            <a:gdLst/>
            <a:ahLst/>
            <a:cxnLst/>
            <a:rect r="r" b="b" t="t" l="l"/>
            <a:pathLst>
              <a:path h="10206172" w="9657591">
                <a:moveTo>
                  <a:pt x="0" y="0"/>
                </a:moveTo>
                <a:lnTo>
                  <a:pt x="9657591" y="0"/>
                </a:lnTo>
                <a:lnTo>
                  <a:pt x="9657591" y="10206172"/>
                </a:lnTo>
                <a:lnTo>
                  <a:pt x="0" y="102061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70813" y="0"/>
            <a:ext cx="5388429" cy="4114800"/>
          </a:xfrm>
          <a:custGeom>
            <a:avLst/>
            <a:gdLst/>
            <a:ahLst/>
            <a:cxnLst/>
            <a:rect r="r" b="b" t="t" l="l"/>
            <a:pathLst>
              <a:path h="4114800" w="5388429">
                <a:moveTo>
                  <a:pt x="0" y="0"/>
                </a:moveTo>
                <a:lnTo>
                  <a:pt x="5388428" y="0"/>
                </a:lnTo>
                <a:lnTo>
                  <a:pt x="538842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855618">
            <a:off x="12184937" y="5471506"/>
            <a:ext cx="3537589" cy="5147286"/>
          </a:xfrm>
          <a:custGeom>
            <a:avLst/>
            <a:gdLst/>
            <a:ahLst/>
            <a:cxnLst/>
            <a:rect r="r" b="b" t="t" l="l"/>
            <a:pathLst>
              <a:path h="5147286" w="3537589">
                <a:moveTo>
                  <a:pt x="0" y="0"/>
                </a:moveTo>
                <a:lnTo>
                  <a:pt x="3537589" y="0"/>
                </a:lnTo>
                <a:lnTo>
                  <a:pt x="3537589" y="5147286"/>
                </a:lnTo>
                <a:lnTo>
                  <a:pt x="0" y="514728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2264676" y="1518100"/>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3863917" y="6913629"/>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141756">
            <a:off x="215330" y="4728070"/>
            <a:ext cx="2394065" cy="4114800"/>
          </a:xfrm>
          <a:custGeom>
            <a:avLst/>
            <a:gdLst/>
            <a:ahLst/>
            <a:cxnLst/>
            <a:rect r="r" b="b" t="t" l="l"/>
            <a:pathLst>
              <a:path h="4114800" w="2394065">
                <a:moveTo>
                  <a:pt x="0" y="0"/>
                </a:moveTo>
                <a:lnTo>
                  <a:pt x="2394066" y="0"/>
                </a:lnTo>
                <a:lnTo>
                  <a:pt x="2394066"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1" id="11"/>
          <p:cNvSpPr txBox="true"/>
          <p:nvPr/>
        </p:nvSpPr>
        <p:spPr>
          <a:xfrm rot="0">
            <a:off x="4306141" y="925079"/>
            <a:ext cx="8180555" cy="1315711"/>
          </a:xfrm>
          <a:prstGeom prst="rect">
            <a:avLst/>
          </a:prstGeom>
        </p:spPr>
        <p:txBody>
          <a:bodyPr anchor="t" rtlCol="false" tIns="0" lIns="0" bIns="0" rIns="0">
            <a:spAutoFit/>
          </a:bodyPr>
          <a:lstStyle/>
          <a:p>
            <a:pPr algn="ctr">
              <a:lnSpc>
                <a:spcPts val="10340"/>
              </a:lnSpc>
              <a:spcBef>
                <a:spcPct val="0"/>
              </a:spcBef>
            </a:pPr>
            <a:r>
              <a:rPr lang="en-US" sz="8617">
                <a:solidFill>
                  <a:srgbClr val="FDBC3B"/>
                </a:solidFill>
                <a:latin typeface="Lazydog"/>
                <a:ea typeface="Lazydog"/>
                <a:cs typeface="Lazydog"/>
                <a:sym typeface="Lazydog"/>
              </a:rPr>
              <a:t>cuprins</a:t>
            </a:r>
          </a:p>
        </p:txBody>
      </p:sp>
      <p:sp>
        <p:nvSpPr>
          <p:cNvPr name="TextBox 12" id="12"/>
          <p:cNvSpPr txBox="true"/>
          <p:nvPr/>
        </p:nvSpPr>
        <p:spPr>
          <a:xfrm rot="0">
            <a:off x="5627409" y="3585330"/>
            <a:ext cx="5755971" cy="1343025"/>
          </a:xfrm>
          <a:prstGeom prst="rect">
            <a:avLst/>
          </a:prstGeom>
        </p:spPr>
        <p:txBody>
          <a:bodyPr anchor="t" rtlCol="false" tIns="0" lIns="0" bIns="0" rIns="0">
            <a:spAutoFit/>
          </a:bodyPr>
          <a:lstStyle/>
          <a:p>
            <a:pPr algn="l">
              <a:lnSpc>
                <a:spcPts val="3583"/>
              </a:lnSpc>
            </a:pPr>
            <a:r>
              <a:rPr lang="en-US" sz="2985" b="true">
                <a:solidFill>
                  <a:srgbClr val="FFC700"/>
                </a:solidFill>
                <a:latin typeface="Roca One Heavy"/>
                <a:ea typeface="Roca One Heavy"/>
                <a:cs typeface="Roca One Heavy"/>
                <a:sym typeface="Roca One Heavy"/>
              </a:rPr>
              <a:t>Context:</a:t>
            </a:r>
          </a:p>
          <a:p>
            <a:pPr algn="ctr">
              <a:lnSpc>
                <a:spcPts val="3583"/>
              </a:lnSpc>
              <a:spcBef>
                <a:spcPct val="0"/>
              </a:spcBef>
            </a:pPr>
            <a:r>
              <a:rPr lang="en-US" b="true" sz="2985">
                <a:solidFill>
                  <a:srgbClr val="FFC700"/>
                </a:solidFill>
                <a:latin typeface="Roca One Heavy"/>
                <a:ea typeface="Roca One Heavy"/>
                <a:cs typeface="Roca One Heavy"/>
                <a:sym typeface="Roca One Heavy"/>
              </a:rPr>
              <a:t> De ce avem nevoie de digitalizare în educație?</a:t>
            </a:r>
          </a:p>
        </p:txBody>
      </p:sp>
      <p:sp>
        <p:nvSpPr>
          <p:cNvPr name="TextBox 13" id="13"/>
          <p:cNvSpPr txBox="true"/>
          <p:nvPr/>
        </p:nvSpPr>
        <p:spPr>
          <a:xfrm rot="0">
            <a:off x="1987041" y="5442445"/>
            <a:ext cx="5755971" cy="1343025"/>
          </a:xfrm>
          <a:prstGeom prst="rect">
            <a:avLst/>
          </a:prstGeom>
        </p:spPr>
        <p:txBody>
          <a:bodyPr anchor="t" rtlCol="false" tIns="0" lIns="0" bIns="0" rIns="0">
            <a:spAutoFit/>
          </a:bodyPr>
          <a:lstStyle/>
          <a:p>
            <a:pPr algn="l">
              <a:lnSpc>
                <a:spcPts val="3583"/>
              </a:lnSpc>
            </a:pPr>
            <a:r>
              <a:rPr lang="en-US" sz="2985" b="true">
                <a:solidFill>
                  <a:srgbClr val="FFC700"/>
                </a:solidFill>
                <a:latin typeface="Roca One Heavy"/>
                <a:ea typeface="Roca One Heavy"/>
                <a:cs typeface="Roca One Heavy"/>
                <a:sym typeface="Roca One Heavy"/>
              </a:rPr>
              <a:t>Niv</a:t>
            </a:r>
            <a:r>
              <a:rPr lang="en-US" sz="2985" b="true">
                <a:solidFill>
                  <a:srgbClr val="FFC700"/>
                </a:solidFill>
                <a:latin typeface="Roca One Heavy"/>
                <a:ea typeface="Roca One Heavy"/>
                <a:cs typeface="Roca One Heavy"/>
                <a:sym typeface="Roca One Heavy"/>
              </a:rPr>
              <a:t>el  1 : </a:t>
            </a:r>
          </a:p>
          <a:p>
            <a:pPr algn="l">
              <a:lnSpc>
                <a:spcPts val="3583"/>
              </a:lnSpc>
              <a:spcBef>
                <a:spcPct val="0"/>
              </a:spcBef>
            </a:pPr>
            <a:r>
              <a:rPr lang="en-US" b="true" sz="2985">
                <a:solidFill>
                  <a:srgbClr val="FFC700"/>
                </a:solidFill>
                <a:latin typeface="Roca One Heavy"/>
                <a:ea typeface="Roca One Heavy"/>
                <a:cs typeface="Roca One Heavy"/>
                <a:sym typeface="Roca One Heavy"/>
              </a:rPr>
              <a:t>Validarea integrității și calculelor matematice.</a:t>
            </a:r>
          </a:p>
        </p:txBody>
      </p:sp>
      <p:sp>
        <p:nvSpPr>
          <p:cNvPr name="TextBox 14" id="14"/>
          <p:cNvSpPr txBox="true"/>
          <p:nvPr/>
        </p:nvSpPr>
        <p:spPr>
          <a:xfrm rot="0">
            <a:off x="9005500" y="5442445"/>
            <a:ext cx="6518354" cy="1343025"/>
          </a:xfrm>
          <a:prstGeom prst="rect">
            <a:avLst/>
          </a:prstGeom>
        </p:spPr>
        <p:txBody>
          <a:bodyPr anchor="t" rtlCol="false" tIns="0" lIns="0" bIns="0" rIns="0">
            <a:spAutoFit/>
          </a:bodyPr>
          <a:lstStyle/>
          <a:p>
            <a:pPr algn="l">
              <a:lnSpc>
                <a:spcPts val="3583"/>
              </a:lnSpc>
            </a:pPr>
            <a:r>
              <a:rPr lang="en-US" sz="2985" b="true">
                <a:solidFill>
                  <a:srgbClr val="FFC700"/>
                </a:solidFill>
                <a:latin typeface="Roca One Heavy"/>
                <a:ea typeface="Roca One Heavy"/>
                <a:cs typeface="Roca One Heavy"/>
                <a:sym typeface="Roca One Heavy"/>
              </a:rPr>
              <a:t>Niv</a:t>
            </a:r>
            <a:r>
              <a:rPr lang="en-US" sz="2985" b="true">
                <a:solidFill>
                  <a:srgbClr val="FFC700"/>
                </a:solidFill>
                <a:latin typeface="Roca One Heavy"/>
                <a:ea typeface="Roca One Heavy"/>
                <a:cs typeface="Roca One Heavy"/>
                <a:sym typeface="Roca One Heavy"/>
              </a:rPr>
              <a:t>el 2 :</a:t>
            </a:r>
          </a:p>
          <a:p>
            <a:pPr algn="l">
              <a:lnSpc>
                <a:spcPts val="3583"/>
              </a:lnSpc>
              <a:spcBef>
                <a:spcPct val="0"/>
              </a:spcBef>
            </a:pPr>
            <a:r>
              <a:rPr lang="en-US" b="true" sz="2985">
                <a:solidFill>
                  <a:srgbClr val="FFC700"/>
                </a:solidFill>
                <a:latin typeface="Roca One Heavy"/>
                <a:ea typeface="Roca One Heavy"/>
                <a:cs typeface="Roca One Heavy"/>
                <a:sym typeface="Roca One Heavy"/>
              </a:rPr>
              <a:t> Sincronizare Cross-Document (Sursa de adevăr)</a:t>
            </a:r>
          </a:p>
        </p:txBody>
      </p:sp>
      <p:sp>
        <p:nvSpPr>
          <p:cNvPr name="TextBox 15" id="15"/>
          <p:cNvSpPr txBox="true"/>
          <p:nvPr/>
        </p:nvSpPr>
        <p:spPr>
          <a:xfrm rot="0">
            <a:off x="1987041" y="8559032"/>
            <a:ext cx="6518354" cy="1343025"/>
          </a:xfrm>
          <a:prstGeom prst="rect">
            <a:avLst/>
          </a:prstGeom>
        </p:spPr>
        <p:txBody>
          <a:bodyPr anchor="t" rtlCol="false" tIns="0" lIns="0" bIns="0" rIns="0">
            <a:spAutoFit/>
          </a:bodyPr>
          <a:lstStyle/>
          <a:p>
            <a:pPr algn="l">
              <a:lnSpc>
                <a:spcPts val="3583"/>
              </a:lnSpc>
            </a:pPr>
            <a:r>
              <a:rPr lang="en-US" sz="2985" b="true">
                <a:solidFill>
                  <a:srgbClr val="FFC700"/>
                </a:solidFill>
                <a:latin typeface="Roca One Heavy"/>
                <a:ea typeface="Roca One Heavy"/>
                <a:cs typeface="Roca One Heavy"/>
                <a:sym typeface="Roca One Heavy"/>
              </a:rPr>
              <a:t>Niv</a:t>
            </a:r>
            <a:r>
              <a:rPr lang="en-US" sz="2985" b="true">
                <a:solidFill>
                  <a:srgbClr val="FFC700"/>
                </a:solidFill>
                <a:latin typeface="Roca One Heavy"/>
                <a:ea typeface="Roca One Heavy"/>
                <a:cs typeface="Roca One Heavy"/>
                <a:sym typeface="Roca One Heavy"/>
              </a:rPr>
              <a:t>el  3 : </a:t>
            </a:r>
          </a:p>
          <a:p>
            <a:pPr algn="l">
              <a:lnSpc>
                <a:spcPts val="3583"/>
              </a:lnSpc>
              <a:spcBef>
                <a:spcPct val="0"/>
              </a:spcBef>
            </a:pPr>
            <a:r>
              <a:rPr lang="en-US" b="true" sz="2985">
                <a:solidFill>
                  <a:srgbClr val="FFC700"/>
                </a:solidFill>
                <a:latin typeface="Roca One Heavy"/>
                <a:ea typeface="Roca One Heavy"/>
                <a:cs typeface="Roca One Heavy"/>
                <a:sym typeface="Roca One Heavy"/>
              </a:rPr>
              <a:t>AI Copilot și audit semantic de conținut.</a:t>
            </a:r>
          </a:p>
        </p:txBody>
      </p:sp>
      <p:sp>
        <p:nvSpPr>
          <p:cNvPr name="TextBox 16" id="16"/>
          <p:cNvSpPr txBox="true"/>
          <p:nvPr/>
        </p:nvSpPr>
        <p:spPr>
          <a:xfrm rot="0">
            <a:off x="9005500" y="8559032"/>
            <a:ext cx="6518354" cy="1343025"/>
          </a:xfrm>
          <a:prstGeom prst="rect">
            <a:avLst/>
          </a:prstGeom>
        </p:spPr>
        <p:txBody>
          <a:bodyPr anchor="t" rtlCol="false" tIns="0" lIns="0" bIns="0" rIns="0">
            <a:spAutoFit/>
          </a:bodyPr>
          <a:lstStyle/>
          <a:p>
            <a:pPr algn="l">
              <a:lnSpc>
                <a:spcPts val="3583"/>
              </a:lnSpc>
            </a:pPr>
            <a:r>
              <a:rPr lang="en-US" sz="2985" b="true">
                <a:solidFill>
                  <a:srgbClr val="FFC700"/>
                </a:solidFill>
                <a:latin typeface="Roca One Heavy"/>
                <a:ea typeface="Roca One Heavy"/>
                <a:cs typeface="Roca One Heavy"/>
                <a:sym typeface="Roca One Heavy"/>
              </a:rPr>
              <a:t>Niv</a:t>
            </a:r>
            <a:r>
              <a:rPr lang="en-US" sz="2985" b="true">
                <a:solidFill>
                  <a:srgbClr val="FFC700"/>
                </a:solidFill>
                <a:latin typeface="Roca One Heavy"/>
                <a:ea typeface="Roca One Heavy"/>
                <a:cs typeface="Roca One Heavy"/>
                <a:sym typeface="Roca One Heavy"/>
              </a:rPr>
              <a:t>el  4 : </a:t>
            </a:r>
          </a:p>
          <a:p>
            <a:pPr algn="l">
              <a:lnSpc>
                <a:spcPts val="3583"/>
              </a:lnSpc>
              <a:spcBef>
                <a:spcPct val="0"/>
              </a:spcBef>
            </a:pPr>
            <a:r>
              <a:rPr lang="en-US" b="true" sz="2985">
                <a:solidFill>
                  <a:srgbClr val="FFC700"/>
                </a:solidFill>
                <a:latin typeface="Roca One Heavy"/>
                <a:ea typeface="Roca One Heavy"/>
                <a:cs typeface="Roca One Heavy"/>
                <a:sym typeface="Roca One Heavy"/>
              </a:rPr>
              <a:t>Templating inteligent LaTeX prin AI Multimodal.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2975622" y="831660"/>
            <a:ext cx="12019066" cy="8623680"/>
          </a:xfrm>
          <a:custGeom>
            <a:avLst/>
            <a:gdLst/>
            <a:ahLst/>
            <a:cxnLst/>
            <a:rect r="r" b="b" t="t" l="l"/>
            <a:pathLst>
              <a:path h="8623680" w="12019066">
                <a:moveTo>
                  <a:pt x="0" y="0"/>
                </a:moveTo>
                <a:lnTo>
                  <a:pt x="12019065" y="0"/>
                </a:lnTo>
                <a:lnTo>
                  <a:pt x="12019065" y="8623680"/>
                </a:lnTo>
                <a:lnTo>
                  <a:pt x="0" y="8623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94687" y="7473732"/>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511" y="1378744"/>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52568">
            <a:off x="1362408" y="5531565"/>
            <a:ext cx="2899938" cy="3918836"/>
          </a:xfrm>
          <a:custGeom>
            <a:avLst/>
            <a:gdLst/>
            <a:ahLst/>
            <a:cxnLst/>
            <a:rect r="r" b="b" t="t" l="l"/>
            <a:pathLst>
              <a:path h="3918836" w="2899938">
                <a:moveTo>
                  <a:pt x="0" y="0"/>
                </a:moveTo>
                <a:lnTo>
                  <a:pt x="2899938" y="0"/>
                </a:lnTo>
                <a:lnTo>
                  <a:pt x="2899938" y="3918836"/>
                </a:lnTo>
                <a:lnTo>
                  <a:pt x="0" y="3918836"/>
                </a:lnTo>
                <a:lnTo>
                  <a:pt x="0" y="0"/>
                </a:lnTo>
                <a:close/>
              </a:path>
            </a:pathLst>
          </a:custGeom>
          <a:blipFill>
            <a:blip r:embed="rId6"/>
            <a:stretch>
              <a:fillRect l="0" t="0" r="0" b="0"/>
            </a:stretch>
          </a:blipFill>
        </p:spPr>
      </p:sp>
      <p:sp>
        <p:nvSpPr>
          <p:cNvPr name="Freeform 6" id="6"/>
          <p:cNvSpPr/>
          <p:nvPr/>
        </p:nvSpPr>
        <p:spPr>
          <a:xfrm flipH="false" flipV="false" rot="-1761005">
            <a:off x="14163679" y="470700"/>
            <a:ext cx="2915883" cy="3800321"/>
          </a:xfrm>
          <a:custGeom>
            <a:avLst/>
            <a:gdLst/>
            <a:ahLst/>
            <a:cxnLst/>
            <a:rect r="r" b="b" t="t" l="l"/>
            <a:pathLst>
              <a:path h="3800321" w="2915883">
                <a:moveTo>
                  <a:pt x="0" y="0"/>
                </a:moveTo>
                <a:lnTo>
                  <a:pt x="2915883" y="0"/>
                </a:lnTo>
                <a:lnTo>
                  <a:pt x="2915883" y="3800321"/>
                </a:lnTo>
                <a:lnTo>
                  <a:pt x="0" y="3800321"/>
                </a:lnTo>
                <a:lnTo>
                  <a:pt x="0" y="0"/>
                </a:lnTo>
                <a:close/>
              </a:path>
            </a:pathLst>
          </a:custGeom>
          <a:blipFill>
            <a:blip r:embed="rId7"/>
            <a:stretch>
              <a:fillRect l="0" t="0" r="0" b="0"/>
            </a:stretch>
          </a:blipFill>
          <a:ln cap="sq">
            <a:noFill/>
            <a:prstDash val="solid"/>
            <a:miter/>
          </a:ln>
        </p:spPr>
      </p:sp>
      <p:sp>
        <p:nvSpPr>
          <p:cNvPr name="TextBox 7" id="7"/>
          <p:cNvSpPr txBox="true"/>
          <p:nvPr/>
        </p:nvSpPr>
        <p:spPr>
          <a:xfrm rot="0">
            <a:off x="4270096" y="3150932"/>
            <a:ext cx="9430117" cy="4514850"/>
          </a:xfrm>
          <a:prstGeom prst="rect">
            <a:avLst/>
          </a:prstGeom>
        </p:spPr>
        <p:txBody>
          <a:bodyPr anchor="t" rtlCol="false" tIns="0" lIns="0" bIns="0" rIns="0">
            <a:spAutoFit/>
          </a:bodyPr>
          <a:lstStyle/>
          <a:p>
            <a:pPr algn="ctr" marL="0" indent="0" lvl="0">
              <a:lnSpc>
                <a:spcPts val="3259"/>
              </a:lnSpc>
              <a:spcBef>
                <a:spcPct val="0"/>
              </a:spcBef>
            </a:pPr>
            <a:r>
              <a:rPr lang="en-US" sz="2716" strike="noStrike" u="none">
                <a:solidFill>
                  <a:srgbClr val="020C45"/>
                </a:solidFill>
                <a:latin typeface="Comic Sans"/>
                <a:ea typeface="Comic Sans"/>
                <a:cs typeface="Comic Sans"/>
                <a:sym typeface="Comic Sans"/>
              </a:rPr>
              <a:t>Sistemul actual este un coșmar de copy-paste. PDF-urile și documentele Word nestructurate fac ca verificarea manuală să dureze ore întregi.</a:t>
            </a:r>
          </a:p>
          <a:p>
            <a:pPr algn="ctr" marL="0" indent="0" lvl="0">
              <a:lnSpc>
                <a:spcPts val="3259"/>
              </a:lnSpc>
              <a:spcBef>
                <a:spcPct val="0"/>
              </a:spcBef>
            </a:pPr>
            <a:r>
              <a:rPr lang="en-US" sz="2716" strike="noStrike" u="none">
                <a:solidFill>
                  <a:srgbClr val="020C45"/>
                </a:solidFill>
                <a:latin typeface="Comic Sans"/>
                <a:ea typeface="Comic Sans"/>
                <a:cs typeface="Comic Sans"/>
                <a:sym typeface="Comic Sans"/>
              </a:rPr>
              <a:t>Pentru o singură materie, acest ping-pong vizual și matematic poate dura ore întregi. Acum, înmulțiți asta cu zeci de materii dintr-un departament și cu sute la nivel de facultate. Zile și săptămâni întregi din timpul unor minți academice briliante sunt irosite pe muncă de secretariat, pur birocratică. Iar pentru că suntem oameni, obosim, iar erorile – de la o virgulă greșită la procente care dau 110% – inevitabil scapă în documentele finale.</a:t>
            </a:r>
          </a:p>
        </p:txBody>
      </p:sp>
      <p:sp>
        <p:nvSpPr>
          <p:cNvPr name="TextBox 8" id="8"/>
          <p:cNvSpPr txBox="true"/>
          <p:nvPr/>
        </p:nvSpPr>
        <p:spPr>
          <a:xfrm rot="0">
            <a:off x="4894877" y="1240216"/>
            <a:ext cx="8180555" cy="1315711"/>
          </a:xfrm>
          <a:prstGeom prst="rect">
            <a:avLst/>
          </a:prstGeom>
        </p:spPr>
        <p:txBody>
          <a:bodyPr anchor="t" rtlCol="false" tIns="0" lIns="0" bIns="0" rIns="0">
            <a:spAutoFit/>
          </a:bodyPr>
          <a:lstStyle/>
          <a:p>
            <a:pPr algn="ctr">
              <a:lnSpc>
                <a:spcPts val="10340"/>
              </a:lnSpc>
              <a:spcBef>
                <a:spcPct val="0"/>
              </a:spcBef>
            </a:pPr>
            <a:r>
              <a:rPr lang="en-US" sz="8617">
                <a:solidFill>
                  <a:srgbClr val="FDBC3B"/>
                </a:solidFill>
                <a:latin typeface="Lazydog"/>
                <a:ea typeface="Lazydog"/>
                <a:cs typeface="Lazydog"/>
                <a:sym typeface="Lazydog"/>
              </a:rPr>
              <a:t>context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2975622" y="831660"/>
            <a:ext cx="12019066" cy="8623680"/>
          </a:xfrm>
          <a:custGeom>
            <a:avLst/>
            <a:gdLst/>
            <a:ahLst/>
            <a:cxnLst/>
            <a:rect r="r" b="b" t="t" l="l"/>
            <a:pathLst>
              <a:path h="8623680" w="12019066">
                <a:moveTo>
                  <a:pt x="0" y="0"/>
                </a:moveTo>
                <a:lnTo>
                  <a:pt x="12019065" y="0"/>
                </a:lnTo>
                <a:lnTo>
                  <a:pt x="12019065" y="8623680"/>
                </a:lnTo>
                <a:lnTo>
                  <a:pt x="0" y="8623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94687" y="7205867"/>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111459">
            <a:off x="14338551" y="5690502"/>
            <a:ext cx="2566139" cy="4114800"/>
          </a:xfrm>
          <a:custGeom>
            <a:avLst/>
            <a:gdLst/>
            <a:ahLst/>
            <a:cxnLst/>
            <a:rect r="r" b="b" t="t" l="l"/>
            <a:pathLst>
              <a:path h="4114800" w="2566139">
                <a:moveTo>
                  <a:pt x="0" y="0"/>
                </a:moveTo>
                <a:lnTo>
                  <a:pt x="2566139" y="0"/>
                </a:lnTo>
                <a:lnTo>
                  <a:pt x="2566139" y="4114800"/>
                </a:lnTo>
                <a:lnTo>
                  <a:pt x="0" y="4114800"/>
                </a:lnTo>
                <a:lnTo>
                  <a:pt x="0" y="0"/>
                </a:lnTo>
                <a:close/>
              </a:path>
            </a:pathLst>
          </a:custGeom>
          <a:blipFill>
            <a:blip r:embed="rId6">
              <a:alphaModFix amt="8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27952" y="1220584"/>
            <a:ext cx="3223952" cy="2325276"/>
          </a:xfrm>
          <a:custGeom>
            <a:avLst/>
            <a:gdLst/>
            <a:ahLst/>
            <a:cxnLst/>
            <a:rect r="r" b="b" t="t" l="l"/>
            <a:pathLst>
              <a:path h="2325276" w="3223952">
                <a:moveTo>
                  <a:pt x="0" y="0"/>
                </a:moveTo>
                <a:lnTo>
                  <a:pt x="3223952" y="0"/>
                </a:lnTo>
                <a:lnTo>
                  <a:pt x="3223952" y="2325276"/>
                </a:lnTo>
                <a:lnTo>
                  <a:pt x="0" y="23252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4869411" y="1645034"/>
            <a:ext cx="8231486" cy="1466850"/>
          </a:xfrm>
          <a:prstGeom prst="rect">
            <a:avLst/>
          </a:prstGeom>
        </p:spPr>
        <p:txBody>
          <a:bodyPr anchor="t" rtlCol="false" tIns="0" lIns="0" bIns="0" rIns="0">
            <a:spAutoFit/>
          </a:bodyPr>
          <a:lstStyle/>
          <a:p>
            <a:pPr algn="ctr">
              <a:lnSpc>
                <a:spcPts val="3842"/>
              </a:lnSpc>
              <a:spcBef>
                <a:spcPct val="0"/>
              </a:spcBef>
            </a:pPr>
            <a:r>
              <a:rPr lang="en-US" sz="3202">
                <a:solidFill>
                  <a:srgbClr val="375DA5"/>
                </a:solidFill>
                <a:latin typeface="Lazydog"/>
                <a:ea typeface="Lazydog"/>
                <a:cs typeface="Lazydog"/>
                <a:sym typeface="Lazydog"/>
              </a:rPr>
              <a:t>Validarea integritatii si calculelor matematice si sincronizarea documentelor încrucisate</a:t>
            </a:r>
          </a:p>
        </p:txBody>
      </p:sp>
      <p:sp>
        <p:nvSpPr>
          <p:cNvPr name="TextBox 7" id="7"/>
          <p:cNvSpPr txBox="true"/>
          <p:nvPr/>
        </p:nvSpPr>
        <p:spPr>
          <a:xfrm rot="0">
            <a:off x="4734518" y="3427308"/>
            <a:ext cx="8818965" cy="4105275"/>
          </a:xfrm>
          <a:prstGeom prst="rect">
            <a:avLst/>
          </a:prstGeom>
        </p:spPr>
        <p:txBody>
          <a:bodyPr anchor="t" rtlCol="false" tIns="0" lIns="0" bIns="0" rIns="0">
            <a:spAutoFit/>
          </a:bodyPr>
          <a:lstStyle/>
          <a:p>
            <a:pPr algn="ctr" marL="0" indent="0" lvl="0">
              <a:lnSpc>
                <a:spcPts val="3259"/>
              </a:lnSpc>
              <a:spcBef>
                <a:spcPct val="0"/>
              </a:spcBef>
            </a:pPr>
            <a:r>
              <a:rPr lang="en-US" sz="2716" strike="noStrike" u="none">
                <a:solidFill>
                  <a:srgbClr val="020C45"/>
                </a:solidFill>
                <a:latin typeface="Comic Sans"/>
                <a:ea typeface="Comic Sans"/>
                <a:cs typeface="Comic Sans"/>
                <a:sym typeface="Comic Sans"/>
              </a:rPr>
              <a:t>Imaginați-vă discrepanța între Planul de Învățământ și Fișele Disciplinei redactate de profesori, unde pot apărea greșeli precum titluri incorecte sau alocarea greșită a notelor. Pentru a aborda aceste erori, am dezvoltat un motor de validare în două etape: un algoritm care scanează și calculează ponderile în timp real, semnalând încălcările regulamentului, și un algoritm de Potrivire Aproximativă care recunoaște echivalența termenilor, asigurând sincronizarea între documente și automatizând auditul de conformitate.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2975622" y="831660"/>
            <a:ext cx="12019066" cy="8623680"/>
          </a:xfrm>
          <a:custGeom>
            <a:avLst/>
            <a:gdLst/>
            <a:ahLst/>
            <a:cxnLst/>
            <a:rect r="r" b="b" t="t" l="l"/>
            <a:pathLst>
              <a:path h="8623680" w="12019066">
                <a:moveTo>
                  <a:pt x="0" y="0"/>
                </a:moveTo>
                <a:lnTo>
                  <a:pt x="12019065" y="0"/>
                </a:lnTo>
                <a:lnTo>
                  <a:pt x="12019065" y="8623680"/>
                </a:lnTo>
                <a:lnTo>
                  <a:pt x="0" y="8623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94687" y="7473732"/>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511" y="1378744"/>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75971">
            <a:off x="879483" y="5400595"/>
            <a:ext cx="2942111" cy="3927576"/>
          </a:xfrm>
          <a:custGeom>
            <a:avLst/>
            <a:gdLst/>
            <a:ahLst/>
            <a:cxnLst/>
            <a:rect r="r" b="b" t="t" l="l"/>
            <a:pathLst>
              <a:path h="3927576" w="2942111">
                <a:moveTo>
                  <a:pt x="0" y="0"/>
                </a:moveTo>
                <a:lnTo>
                  <a:pt x="2942112" y="0"/>
                </a:lnTo>
                <a:lnTo>
                  <a:pt x="2942112" y="3927575"/>
                </a:lnTo>
                <a:lnTo>
                  <a:pt x="0" y="39275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718280">
            <a:off x="15067450" y="991791"/>
            <a:ext cx="2362206" cy="2794007"/>
          </a:xfrm>
          <a:custGeom>
            <a:avLst/>
            <a:gdLst/>
            <a:ahLst/>
            <a:cxnLst/>
            <a:rect r="r" b="b" t="t" l="l"/>
            <a:pathLst>
              <a:path h="2794007" w="2362206">
                <a:moveTo>
                  <a:pt x="0" y="0"/>
                </a:moveTo>
                <a:lnTo>
                  <a:pt x="2362206" y="0"/>
                </a:lnTo>
                <a:lnTo>
                  <a:pt x="2362206" y="2794006"/>
                </a:lnTo>
                <a:lnTo>
                  <a:pt x="0" y="27940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819458" y="1636319"/>
            <a:ext cx="10649083" cy="1400175"/>
          </a:xfrm>
          <a:prstGeom prst="rect">
            <a:avLst/>
          </a:prstGeom>
        </p:spPr>
        <p:txBody>
          <a:bodyPr anchor="t" rtlCol="false" tIns="0" lIns="0" bIns="0" rIns="0">
            <a:spAutoFit/>
          </a:bodyPr>
          <a:lstStyle/>
          <a:p>
            <a:pPr algn="ctr" marL="0" indent="0" lvl="0">
              <a:lnSpc>
                <a:spcPts val="5522"/>
              </a:lnSpc>
              <a:spcBef>
                <a:spcPct val="0"/>
              </a:spcBef>
            </a:pPr>
            <a:r>
              <a:rPr lang="en-US" sz="4602">
                <a:solidFill>
                  <a:srgbClr val="375DA5"/>
                </a:solidFill>
                <a:latin typeface="Lazydog"/>
                <a:ea typeface="Lazydog"/>
                <a:cs typeface="Lazydog"/>
                <a:sym typeface="Lazydog"/>
              </a:rPr>
              <a:t>A.I Copilot.</a:t>
            </a:r>
          </a:p>
          <a:p>
            <a:pPr algn="ctr">
              <a:lnSpc>
                <a:spcPts val="5522"/>
              </a:lnSpc>
              <a:spcBef>
                <a:spcPct val="0"/>
              </a:spcBef>
            </a:pPr>
            <a:r>
              <a:rPr lang="en-US" sz="4602">
                <a:solidFill>
                  <a:srgbClr val="375DA5"/>
                </a:solidFill>
                <a:latin typeface="Lazydog"/>
                <a:ea typeface="Lazydog"/>
                <a:cs typeface="Lazydog"/>
                <a:sym typeface="Lazydog"/>
              </a:rPr>
              <a:t>audit semantic al continutului.</a:t>
            </a:r>
          </a:p>
        </p:txBody>
      </p:sp>
      <p:sp>
        <p:nvSpPr>
          <p:cNvPr name="TextBox 8" id="8"/>
          <p:cNvSpPr txBox="true"/>
          <p:nvPr/>
        </p:nvSpPr>
        <p:spPr>
          <a:xfrm rot="0">
            <a:off x="4715443" y="3262471"/>
            <a:ext cx="8539424" cy="4933950"/>
          </a:xfrm>
          <a:prstGeom prst="rect">
            <a:avLst/>
          </a:prstGeom>
        </p:spPr>
        <p:txBody>
          <a:bodyPr anchor="t" rtlCol="false" tIns="0" lIns="0" bIns="0" rIns="0">
            <a:spAutoFit/>
          </a:bodyPr>
          <a:lstStyle/>
          <a:p>
            <a:pPr algn="ctr" marL="0" indent="0" lvl="0">
              <a:lnSpc>
                <a:spcPts val="2779"/>
              </a:lnSpc>
              <a:spcBef>
                <a:spcPct val="0"/>
              </a:spcBef>
            </a:pPr>
            <a:r>
              <a:rPr lang="en-US" sz="2316" strike="noStrike" u="none">
                <a:solidFill>
                  <a:srgbClr val="020C45"/>
                </a:solidFill>
                <a:latin typeface="Comic Sans"/>
                <a:ea typeface="Comic Sans"/>
                <a:cs typeface="Comic Sans"/>
                <a:sym typeface="Comic Sans"/>
              </a:rPr>
              <a:t>Dincolo de numere și structuri stricte, apare problema calității și relevanței conținutului.</a:t>
            </a:r>
          </a:p>
          <a:p>
            <a:pPr algn="ctr" marL="0" indent="0" lvl="0">
              <a:lnSpc>
                <a:spcPts val="2779"/>
              </a:lnSpc>
              <a:spcBef>
                <a:spcPct val="0"/>
              </a:spcBef>
            </a:pPr>
            <a:r>
              <a:rPr lang="en-US" sz="2316" strike="noStrike" u="none">
                <a:solidFill>
                  <a:srgbClr val="020C45"/>
                </a:solidFill>
                <a:latin typeface="Comic Sans"/>
                <a:ea typeface="Comic Sans"/>
                <a:cs typeface="Comic Sans"/>
                <a:sym typeface="Comic Sans"/>
              </a:rPr>
              <a:t>Am ridicat sistemul de la un simplu „verificator” la un „auditor inteligent”. Am combinat expresiile regulate (Regex) rapide pentru a extrage automat anii din text și a semnala instant sursele mai vechi de 5 ani sau conținutul generic. Pentru a rezolva frustrarea editării, nu am pus utilizatorul să rescrie textul, ci am creat Modificarea Asistată de AI. Utilizatorul dă o comandă naturală (ex: „Actualizează obiectivele și repară bibliografia”). Secretul nostru tehnic este că am „îmbrăcat” cerința lui în System Prompts cu reguli stricte; astfel, AI-ul execută modificarea, dar este forțat la nivel de cod să nu încalce nicio regulă academică în timp ce generează noul document.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2975622" y="831660"/>
            <a:ext cx="12019066" cy="8623680"/>
          </a:xfrm>
          <a:custGeom>
            <a:avLst/>
            <a:gdLst/>
            <a:ahLst/>
            <a:cxnLst/>
            <a:rect r="r" b="b" t="t" l="l"/>
            <a:pathLst>
              <a:path h="8623680" w="12019066">
                <a:moveTo>
                  <a:pt x="0" y="0"/>
                </a:moveTo>
                <a:lnTo>
                  <a:pt x="12019065" y="0"/>
                </a:lnTo>
                <a:lnTo>
                  <a:pt x="12019065" y="8623680"/>
                </a:lnTo>
                <a:lnTo>
                  <a:pt x="0" y="8623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94687" y="7473732"/>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511" y="1378744"/>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803299">
            <a:off x="520811" y="6595347"/>
            <a:ext cx="3329267" cy="3202149"/>
          </a:xfrm>
          <a:custGeom>
            <a:avLst/>
            <a:gdLst/>
            <a:ahLst/>
            <a:cxnLst/>
            <a:rect r="r" b="b" t="t" l="l"/>
            <a:pathLst>
              <a:path h="3202149" w="3329267">
                <a:moveTo>
                  <a:pt x="0" y="0"/>
                </a:moveTo>
                <a:lnTo>
                  <a:pt x="3329267" y="0"/>
                </a:lnTo>
                <a:lnTo>
                  <a:pt x="3329267" y="3202149"/>
                </a:lnTo>
                <a:lnTo>
                  <a:pt x="0" y="32021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43350">
            <a:off x="14585215" y="313035"/>
            <a:ext cx="3326676" cy="3764756"/>
          </a:xfrm>
          <a:custGeom>
            <a:avLst/>
            <a:gdLst/>
            <a:ahLst/>
            <a:cxnLst/>
            <a:rect r="r" b="b" t="t" l="l"/>
            <a:pathLst>
              <a:path h="3764756" w="3326676">
                <a:moveTo>
                  <a:pt x="0" y="0"/>
                </a:moveTo>
                <a:lnTo>
                  <a:pt x="3326676" y="0"/>
                </a:lnTo>
                <a:lnTo>
                  <a:pt x="3326676" y="3764757"/>
                </a:lnTo>
                <a:lnTo>
                  <a:pt x="0" y="37647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262319" y="2091908"/>
            <a:ext cx="7763362" cy="1247775"/>
          </a:xfrm>
          <a:prstGeom prst="rect">
            <a:avLst/>
          </a:prstGeom>
        </p:spPr>
        <p:txBody>
          <a:bodyPr anchor="t" rtlCol="false" tIns="0" lIns="0" bIns="0" rIns="0">
            <a:spAutoFit/>
          </a:bodyPr>
          <a:lstStyle/>
          <a:p>
            <a:pPr algn="ctr">
              <a:lnSpc>
                <a:spcPts val="4922"/>
              </a:lnSpc>
              <a:spcBef>
                <a:spcPct val="0"/>
              </a:spcBef>
            </a:pPr>
            <a:r>
              <a:rPr lang="en-US" sz="4102">
                <a:solidFill>
                  <a:srgbClr val="375DA5"/>
                </a:solidFill>
                <a:latin typeface="Lazydog"/>
                <a:ea typeface="Lazydog"/>
                <a:cs typeface="Lazydog"/>
                <a:sym typeface="Lazydog"/>
              </a:rPr>
              <a:t>sablonare</a:t>
            </a:r>
            <a:r>
              <a:rPr lang="en-US" sz="4102">
                <a:solidFill>
                  <a:srgbClr val="375DA5"/>
                </a:solidFill>
                <a:latin typeface="Lazydog"/>
                <a:ea typeface="Lazydog"/>
                <a:cs typeface="Lazydog"/>
                <a:sym typeface="Lazydog"/>
              </a:rPr>
              <a:t> inteligenta LaTeX cu AI multimodal</a:t>
            </a:r>
          </a:p>
        </p:txBody>
      </p:sp>
      <p:sp>
        <p:nvSpPr>
          <p:cNvPr name="TextBox 8" id="8"/>
          <p:cNvSpPr txBox="true"/>
          <p:nvPr/>
        </p:nvSpPr>
        <p:spPr>
          <a:xfrm rot="0">
            <a:off x="4381471" y="3464987"/>
            <a:ext cx="9525058" cy="4572000"/>
          </a:xfrm>
          <a:prstGeom prst="rect">
            <a:avLst/>
          </a:prstGeom>
        </p:spPr>
        <p:txBody>
          <a:bodyPr anchor="t" rtlCol="false" tIns="0" lIns="0" bIns="0" rIns="0">
            <a:spAutoFit/>
          </a:bodyPr>
          <a:lstStyle/>
          <a:p>
            <a:pPr algn="ctr" marL="0" indent="0" lvl="0">
              <a:lnSpc>
                <a:spcPts val="2439"/>
              </a:lnSpc>
              <a:spcBef>
                <a:spcPct val="0"/>
              </a:spcBef>
            </a:pPr>
            <a:r>
              <a:rPr lang="en-US" sz="2033" strike="noStrike" u="none">
                <a:solidFill>
                  <a:srgbClr val="63A4C7"/>
                </a:solidFill>
                <a:latin typeface="Comic Sans"/>
                <a:ea typeface="Comic Sans"/>
                <a:cs typeface="Comic Sans"/>
                <a:sym typeface="Comic Sans"/>
              </a:rPr>
              <a:t>Ideea principală (Problema):</a:t>
            </a:r>
          </a:p>
          <a:p>
            <a:pPr algn="ctr" marL="0" indent="0" lvl="0">
              <a:lnSpc>
                <a:spcPts val="2439"/>
              </a:lnSpc>
              <a:spcBef>
                <a:spcPct val="0"/>
              </a:spcBef>
            </a:pPr>
          </a:p>
          <a:p>
            <a:pPr algn="ctr" marL="0" indent="0" lvl="0">
              <a:lnSpc>
                <a:spcPts val="2439"/>
              </a:lnSpc>
              <a:spcBef>
                <a:spcPct val="0"/>
              </a:spcBef>
            </a:pPr>
            <a:r>
              <a:rPr lang="en-US" sz="2033" strike="noStrike" u="none">
                <a:solidFill>
                  <a:srgbClr val="63A4C7"/>
                </a:solidFill>
                <a:latin typeface="Comic Sans"/>
                <a:ea typeface="Comic Sans"/>
                <a:cs typeface="Comic Sans"/>
                <a:sym typeface="Comic Sans"/>
              </a:rPr>
              <a:t>Când extragem automat date dintr-un PDF cu tabele (cum e Planul de Învățământ), formatarea se distruge și textul devine o „salată de cuvinte”. Este imposibil ca un program clasic să mai asocieze corect creditele cu materia pe rândul ei, ceea ce blochează complet generarea automată a unor documente noi, standardizate.</a:t>
            </a:r>
          </a:p>
          <a:p>
            <a:pPr algn="ctr" marL="0" indent="0" lvl="0">
              <a:lnSpc>
                <a:spcPts val="2439"/>
              </a:lnSpc>
              <a:spcBef>
                <a:spcPct val="0"/>
              </a:spcBef>
            </a:pPr>
          </a:p>
          <a:p>
            <a:pPr algn="ctr" marL="0" indent="0" lvl="0">
              <a:lnSpc>
                <a:spcPts val="2439"/>
              </a:lnSpc>
              <a:spcBef>
                <a:spcPct val="0"/>
              </a:spcBef>
            </a:pPr>
            <a:r>
              <a:rPr lang="en-US" sz="2033" strike="noStrike" u="none">
                <a:solidFill>
                  <a:srgbClr val="63A4C7"/>
                </a:solidFill>
                <a:latin typeface="Comic Sans"/>
                <a:ea typeface="Comic Sans"/>
                <a:cs typeface="Comic Sans"/>
                <a:sym typeface="Comic Sans"/>
              </a:rPr>
              <a:t>Cum am abordat noi problema:</a:t>
            </a:r>
          </a:p>
          <a:p>
            <a:pPr algn="ctr" marL="0" indent="0" lvl="0">
              <a:lnSpc>
                <a:spcPts val="2439"/>
              </a:lnSpc>
              <a:spcBef>
                <a:spcPct val="0"/>
              </a:spcBef>
            </a:pPr>
            <a:r>
              <a:rPr lang="en-US" sz="2033" strike="noStrike" u="none">
                <a:solidFill>
                  <a:srgbClr val="63A4C7"/>
                </a:solidFill>
                <a:latin typeface="Comic Sans"/>
                <a:ea typeface="Comic Sans"/>
                <a:cs typeface="Comic Sans"/>
                <a:sym typeface="Comic Sans"/>
              </a:rPr>
              <a:t>Am renunțat la parsarea clasică de text și am integrat o abordare AI Multimodală (Vision). Practic, transformăm PDF-ul în imagine și îl dăm direct modelului. AI-ul „privește” documentul exact ca un om, îi înțelege spațial rândurile și coloanele, iar apoi ia datele și le injectează perfect în șablonul nostru LaTeX. Am transformat o problemă tehnică de nerezolvat într-o soluție vizuală simplă și precisă.</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2975622" y="831660"/>
            <a:ext cx="12019066" cy="8623680"/>
          </a:xfrm>
          <a:custGeom>
            <a:avLst/>
            <a:gdLst/>
            <a:ahLst/>
            <a:cxnLst/>
            <a:rect r="r" b="b" t="t" l="l"/>
            <a:pathLst>
              <a:path h="8623680" w="12019066">
                <a:moveTo>
                  <a:pt x="0" y="0"/>
                </a:moveTo>
                <a:lnTo>
                  <a:pt x="12019065" y="0"/>
                </a:lnTo>
                <a:lnTo>
                  <a:pt x="12019065" y="8623680"/>
                </a:lnTo>
                <a:lnTo>
                  <a:pt x="0" y="86236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94687" y="7473732"/>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8511" y="1378744"/>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765582">
            <a:off x="404103" y="5416332"/>
            <a:ext cx="4073652" cy="4114800"/>
          </a:xfrm>
          <a:custGeom>
            <a:avLst/>
            <a:gdLst/>
            <a:ahLst/>
            <a:cxnLst/>
            <a:rect r="r" b="b" t="t" l="l"/>
            <a:pathLst>
              <a:path h="4114800" w="4073652">
                <a:moveTo>
                  <a:pt x="0" y="0"/>
                </a:moveTo>
                <a:lnTo>
                  <a:pt x="4073652" y="0"/>
                </a:lnTo>
                <a:lnTo>
                  <a:pt x="407365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641606">
            <a:off x="13763834" y="4403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673773" y="1652153"/>
            <a:ext cx="6940455" cy="889034"/>
          </a:xfrm>
          <a:prstGeom prst="rect">
            <a:avLst/>
          </a:prstGeom>
        </p:spPr>
        <p:txBody>
          <a:bodyPr anchor="t" rtlCol="false" tIns="0" lIns="0" bIns="0" rIns="0">
            <a:spAutoFit/>
          </a:bodyPr>
          <a:lstStyle/>
          <a:p>
            <a:pPr algn="ctr">
              <a:lnSpc>
                <a:spcPts val="6962"/>
              </a:lnSpc>
              <a:spcBef>
                <a:spcPct val="0"/>
              </a:spcBef>
            </a:pPr>
            <a:r>
              <a:rPr lang="en-US" sz="5802">
                <a:solidFill>
                  <a:srgbClr val="375DA5"/>
                </a:solidFill>
                <a:latin typeface="Lazydog"/>
                <a:ea typeface="Lazydog"/>
                <a:cs typeface="Lazydog"/>
                <a:sym typeface="Lazydog"/>
              </a:rPr>
              <a:t>concluzie</a:t>
            </a:r>
          </a:p>
        </p:txBody>
      </p:sp>
      <p:sp>
        <p:nvSpPr>
          <p:cNvPr name="TextBox 8" id="8"/>
          <p:cNvSpPr txBox="true"/>
          <p:nvPr/>
        </p:nvSpPr>
        <p:spPr>
          <a:xfrm rot="0">
            <a:off x="4133765" y="2729275"/>
            <a:ext cx="9702779" cy="4667250"/>
          </a:xfrm>
          <a:prstGeom prst="rect">
            <a:avLst/>
          </a:prstGeom>
        </p:spPr>
        <p:txBody>
          <a:bodyPr anchor="t" rtlCol="false" tIns="0" lIns="0" bIns="0" rIns="0">
            <a:spAutoFit/>
          </a:bodyPr>
          <a:lstStyle/>
          <a:p>
            <a:pPr algn="ctr" marL="0" indent="0" lvl="0">
              <a:lnSpc>
                <a:spcPts val="2659"/>
              </a:lnSpc>
              <a:spcBef>
                <a:spcPct val="0"/>
              </a:spcBef>
            </a:pPr>
            <a:r>
              <a:rPr lang="en-US" sz="2216" strike="noStrike" u="none">
                <a:solidFill>
                  <a:srgbClr val="020C45"/>
                </a:solidFill>
                <a:latin typeface="Comic Sans"/>
                <a:ea typeface="Comic Sans"/>
                <a:cs typeface="Comic Sans"/>
                <a:sym typeface="Comic Sans"/>
              </a:rPr>
              <a:t>Munca administrativă repetitivă și sincronizarea manuală a documentelor nu sunt doar dureri academice. Sunt o gaură neagră financiară pentru corporații. Gândiți-vă la departamentele de HR care aliniază manual CV-uri cu fișe de post, sau la echipele juridice care verifică rând cu rând dacă noile contracte respectă clauzele standard.</a:t>
            </a:r>
          </a:p>
          <a:p>
            <a:pPr algn="ctr" marL="0" indent="0" lvl="0">
              <a:lnSpc>
                <a:spcPts val="2659"/>
              </a:lnSpc>
              <a:spcBef>
                <a:spcPct val="0"/>
              </a:spcBef>
            </a:pPr>
          </a:p>
          <a:p>
            <a:pPr algn="ctr" marL="0" indent="0" lvl="0">
              <a:lnSpc>
                <a:spcPts val="2659"/>
              </a:lnSpc>
              <a:spcBef>
                <a:spcPct val="0"/>
              </a:spcBef>
            </a:pPr>
            <a:r>
              <a:rPr lang="en-US" sz="2216" strike="noStrike" u="none">
                <a:solidFill>
                  <a:srgbClr val="020C45"/>
                </a:solidFill>
                <a:latin typeface="Comic Sans"/>
                <a:ea typeface="Comic Sans"/>
                <a:cs typeface="Comic Sans"/>
                <a:sym typeface="Comic Sans"/>
              </a:rPr>
              <a:t>Cum am abordat noi problema:</a:t>
            </a:r>
          </a:p>
          <a:p>
            <a:pPr algn="ctr" marL="0" indent="0" lvl="0">
              <a:lnSpc>
                <a:spcPts val="2659"/>
              </a:lnSpc>
              <a:spcBef>
                <a:spcPct val="0"/>
              </a:spcBef>
            </a:pPr>
            <a:r>
              <a:rPr lang="en-US" sz="2216" strike="noStrike" u="none">
                <a:solidFill>
                  <a:srgbClr val="020C45"/>
                </a:solidFill>
                <a:latin typeface="Comic Sans"/>
                <a:ea typeface="Comic Sans"/>
                <a:cs typeface="Comic Sans"/>
                <a:sym typeface="Comic Sans"/>
              </a:rPr>
              <a:t>Am gândit aplicația ca pe un produs de business Enterprise-Ready. Arhitectura este complet decuplată (algoritmii de calcul și AI-ul sunt independenți de tipul documentului). Mâine putem înlocui „Fișa Disciplinei” cu un „Contract Cadru”, iar sistemul va funcționa identic. Procesăm documentele local pentru a garanta securitatea datelor, economisim 80% din timpul angajaților și eliminăm aproape complet erorile umane de conformitate.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580806" y="-1000592"/>
            <a:ext cx="17126389" cy="12288184"/>
          </a:xfrm>
          <a:custGeom>
            <a:avLst/>
            <a:gdLst/>
            <a:ahLst/>
            <a:cxnLst/>
            <a:rect r="r" b="b" t="t" l="l"/>
            <a:pathLst>
              <a:path h="12288184" w="17126389">
                <a:moveTo>
                  <a:pt x="0" y="0"/>
                </a:moveTo>
                <a:lnTo>
                  <a:pt x="17126388" y="0"/>
                </a:lnTo>
                <a:lnTo>
                  <a:pt x="17126388" y="12288184"/>
                </a:lnTo>
                <a:lnTo>
                  <a:pt x="0" y="12288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095879" y="326236"/>
            <a:ext cx="8096243" cy="4817264"/>
          </a:xfrm>
          <a:custGeom>
            <a:avLst/>
            <a:gdLst/>
            <a:ahLst/>
            <a:cxnLst/>
            <a:rect r="r" b="b" t="t" l="l"/>
            <a:pathLst>
              <a:path h="4817264" w="8096243">
                <a:moveTo>
                  <a:pt x="0" y="0"/>
                </a:moveTo>
                <a:lnTo>
                  <a:pt x="8096242" y="0"/>
                </a:lnTo>
                <a:lnTo>
                  <a:pt x="8096242" y="4817264"/>
                </a:lnTo>
                <a:lnTo>
                  <a:pt x="0" y="4817264"/>
                </a:lnTo>
                <a:lnTo>
                  <a:pt x="0" y="0"/>
                </a:lnTo>
                <a:close/>
              </a:path>
            </a:pathLst>
          </a:custGeom>
          <a:blipFill>
            <a:blip r:embed="rId4"/>
            <a:stretch>
              <a:fillRect l="0" t="0" r="0" b="0"/>
            </a:stretch>
          </a:blipFill>
          <a:ln cap="sq">
            <a:noFill/>
            <a:prstDash val="solid"/>
            <a:miter/>
          </a:ln>
        </p:spPr>
      </p:sp>
      <p:sp>
        <p:nvSpPr>
          <p:cNvPr name="Freeform 4" id="4"/>
          <p:cNvSpPr/>
          <p:nvPr/>
        </p:nvSpPr>
        <p:spPr>
          <a:xfrm flipH="false" flipV="false" rot="0">
            <a:off x="2056707" y="5748057"/>
            <a:ext cx="6078342" cy="3510243"/>
          </a:xfrm>
          <a:custGeom>
            <a:avLst/>
            <a:gdLst/>
            <a:ahLst/>
            <a:cxnLst/>
            <a:rect r="r" b="b" t="t" l="l"/>
            <a:pathLst>
              <a:path h="3510243" w="6078342">
                <a:moveTo>
                  <a:pt x="0" y="0"/>
                </a:moveTo>
                <a:lnTo>
                  <a:pt x="6078343" y="0"/>
                </a:lnTo>
                <a:lnTo>
                  <a:pt x="6078343" y="3510243"/>
                </a:lnTo>
                <a:lnTo>
                  <a:pt x="0" y="3510243"/>
                </a:lnTo>
                <a:lnTo>
                  <a:pt x="0" y="0"/>
                </a:lnTo>
                <a:close/>
              </a:path>
            </a:pathLst>
          </a:custGeom>
          <a:blipFill>
            <a:blip r:embed="rId5"/>
            <a:stretch>
              <a:fillRect l="0" t="0" r="0" b="0"/>
            </a:stretch>
          </a:blipFill>
        </p:spPr>
      </p:sp>
      <p:sp>
        <p:nvSpPr>
          <p:cNvPr name="Freeform 5" id="5"/>
          <p:cNvSpPr/>
          <p:nvPr/>
        </p:nvSpPr>
        <p:spPr>
          <a:xfrm flipH="false" flipV="false" rot="0">
            <a:off x="9144000" y="5748057"/>
            <a:ext cx="7200498" cy="3510243"/>
          </a:xfrm>
          <a:custGeom>
            <a:avLst/>
            <a:gdLst/>
            <a:ahLst/>
            <a:cxnLst/>
            <a:rect r="r" b="b" t="t" l="l"/>
            <a:pathLst>
              <a:path h="3510243" w="7200498">
                <a:moveTo>
                  <a:pt x="0" y="0"/>
                </a:moveTo>
                <a:lnTo>
                  <a:pt x="7200498" y="0"/>
                </a:lnTo>
                <a:lnTo>
                  <a:pt x="7200498" y="3510243"/>
                </a:lnTo>
                <a:lnTo>
                  <a:pt x="0" y="3510243"/>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75DA5"/>
        </a:solidFill>
      </p:bgPr>
    </p:bg>
    <p:spTree>
      <p:nvGrpSpPr>
        <p:cNvPr id="1" name=""/>
        <p:cNvGrpSpPr/>
        <p:nvPr/>
      </p:nvGrpSpPr>
      <p:grpSpPr>
        <a:xfrm>
          <a:off x="0" y="0"/>
          <a:ext cx="0" cy="0"/>
          <a:chOff x="0" y="0"/>
          <a:chExt cx="0" cy="0"/>
        </a:xfrm>
      </p:grpSpPr>
      <p:sp>
        <p:nvSpPr>
          <p:cNvPr name="Freeform 2" id="2"/>
          <p:cNvSpPr/>
          <p:nvPr/>
        </p:nvSpPr>
        <p:spPr>
          <a:xfrm flipH="false" flipV="false" rot="0">
            <a:off x="7220384" y="8359007"/>
            <a:ext cx="4520266" cy="4636170"/>
          </a:xfrm>
          <a:custGeom>
            <a:avLst/>
            <a:gdLst/>
            <a:ahLst/>
            <a:cxnLst/>
            <a:rect r="r" b="b" t="t" l="l"/>
            <a:pathLst>
              <a:path h="4636170" w="4520266">
                <a:moveTo>
                  <a:pt x="0" y="0"/>
                </a:moveTo>
                <a:lnTo>
                  <a:pt x="4520266" y="0"/>
                </a:lnTo>
                <a:lnTo>
                  <a:pt x="4520266" y="4636171"/>
                </a:lnTo>
                <a:lnTo>
                  <a:pt x="0" y="4636171"/>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36285" y="-2768017"/>
            <a:ext cx="4520266" cy="4636170"/>
          </a:xfrm>
          <a:custGeom>
            <a:avLst/>
            <a:gdLst/>
            <a:ahLst/>
            <a:cxnLst/>
            <a:rect r="r" b="b" t="t" l="l"/>
            <a:pathLst>
              <a:path h="4636170" w="4520266">
                <a:moveTo>
                  <a:pt x="0" y="0"/>
                </a:moveTo>
                <a:lnTo>
                  <a:pt x="4520266" y="0"/>
                </a:lnTo>
                <a:lnTo>
                  <a:pt x="4520266" y="4636170"/>
                </a:lnTo>
                <a:lnTo>
                  <a:pt x="0" y="463617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52196" y="-164374"/>
            <a:ext cx="9657591" cy="10206172"/>
          </a:xfrm>
          <a:custGeom>
            <a:avLst/>
            <a:gdLst/>
            <a:ahLst/>
            <a:cxnLst/>
            <a:rect r="r" b="b" t="t" l="l"/>
            <a:pathLst>
              <a:path h="10206172" w="9657591">
                <a:moveTo>
                  <a:pt x="0" y="0"/>
                </a:moveTo>
                <a:lnTo>
                  <a:pt x="9657591" y="0"/>
                </a:lnTo>
                <a:lnTo>
                  <a:pt x="9657591" y="10206173"/>
                </a:lnTo>
                <a:lnTo>
                  <a:pt x="0" y="102061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9480517" y="955770"/>
            <a:ext cx="9657591" cy="10206172"/>
          </a:xfrm>
          <a:custGeom>
            <a:avLst/>
            <a:gdLst/>
            <a:ahLst/>
            <a:cxnLst/>
            <a:rect r="r" b="b" t="t" l="l"/>
            <a:pathLst>
              <a:path h="10206172" w="9657591">
                <a:moveTo>
                  <a:pt x="0" y="0"/>
                </a:moveTo>
                <a:lnTo>
                  <a:pt x="9657591" y="0"/>
                </a:lnTo>
                <a:lnTo>
                  <a:pt x="9657591" y="10206172"/>
                </a:lnTo>
                <a:lnTo>
                  <a:pt x="0" y="102061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264676" y="1518100"/>
            <a:ext cx="1253866" cy="1445378"/>
          </a:xfrm>
          <a:custGeom>
            <a:avLst/>
            <a:gdLst/>
            <a:ahLst/>
            <a:cxnLst/>
            <a:rect r="r" b="b" t="t" l="l"/>
            <a:pathLst>
              <a:path h="1445378" w="1253866">
                <a:moveTo>
                  <a:pt x="0" y="0"/>
                </a:moveTo>
                <a:lnTo>
                  <a:pt x="1253866" y="0"/>
                </a:lnTo>
                <a:lnTo>
                  <a:pt x="1253866" y="1445379"/>
                </a:lnTo>
                <a:lnTo>
                  <a:pt x="0" y="14453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3863917" y="6913629"/>
            <a:ext cx="1253866" cy="1445378"/>
          </a:xfrm>
          <a:custGeom>
            <a:avLst/>
            <a:gdLst/>
            <a:ahLst/>
            <a:cxnLst/>
            <a:rect r="r" b="b" t="t" l="l"/>
            <a:pathLst>
              <a:path h="1445378" w="1253866">
                <a:moveTo>
                  <a:pt x="0" y="0"/>
                </a:moveTo>
                <a:lnTo>
                  <a:pt x="1253866" y="0"/>
                </a:lnTo>
                <a:lnTo>
                  <a:pt x="1253866" y="1445378"/>
                </a:lnTo>
                <a:lnTo>
                  <a:pt x="0" y="14453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043035" y="5926999"/>
            <a:ext cx="4544458" cy="4114800"/>
          </a:xfrm>
          <a:custGeom>
            <a:avLst/>
            <a:gdLst/>
            <a:ahLst/>
            <a:cxnLst/>
            <a:rect r="r" b="b" t="t" l="l"/>
            <a:pathLst>
              <a:path h="4114800" w="4544458">
                <a:moveTo>
                  <a:pt x="0" y="0"/>
                </a:moveTo>
                <a:lnTo>
                  <a:pt x="4544458" y="0"/>
                </a:lnTo>
                <a:lnTo>
                  <a:pt x="454445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3914444" y="3612644"/>
            <a:ext cx="9452975" cy="2621896"/>
          </a:xfrm>
          <a:prstGeom prst="rect">
            <a:avLst/>
          </a:prstGeom>
        </p:spPr>
        <p:txBody>
          <a:bodyPr anchor="t" rtlCol="false" tIns="0" lIns="0" bIns="0" rIns="0">
            <a:spAutoFit/>
          </a:bodyPr>
          <a:lstStyle/>
          <a:p>
            <a:pPr algn="ctr">
              <a:lnSpc>
                <a:spcPts val="10340"/>
              </a:lnSpc>
            </a:pPr>
            <a:r>
              <a:rPr lang="en-US" sz="8617">
                <a:solidFill>
                  <a:srgbClr val="FDBC3B"/>
                </a:solidFill>
                <a:latin typeface="Lazydog"/>
                <a:ea typeface="Lazydog"/>
                <a:cs typeface="Lazydog"/>
                <a:sym typeface="Lazydog"/>
              </a:rPr>
              <a:t>va multumim</a:t>
            </a:r>
          </a:p>
          <a:p>
            <a:pPr algn="ctr">
              <a:lnSpc>
                <a:spcPts val="10340"/>
              </a:lnSpc>
              <a:spcBef>
                <a:spcPct val="0"/>
              </a:spcBef>
            </a:pPr>
            <a:r>
              <a:rPr lang="en-US" sz="8617">
                <a:solidFill>
                  <a:srgbClr val="FDBC3B"/>
                </a:solidFill>
                <a:latin typeface="Lazydog"/>
                <a:ea typeface="Lazydog"/>
                <a:cs typeface="Lazydog"/>
                <a:sym typeface="Lazydog"/>
              </a:rPr>
              <a:t>pentru atentie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DAHH2Z0_Aso</dc:identifier>
  <dcterms:modified xsi:type="dcterms:W3CDTF">2011-08-01T06:04:30Z</dcterms:modified>
  <cp:revision>1</cp:revision>
  <dc:title>EDUSYNC</dc:title>
</cp:coreProperties>
</file>